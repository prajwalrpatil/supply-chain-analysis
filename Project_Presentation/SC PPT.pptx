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5" r:id="rId1"/>
  </p:sldMasterIdLst>
  <p:sldIdLst>
    <p:sldId id="256" r:id="rId2"/>
    <p:sldId id="258" r:id="rId3"/>
    <p:sldId id="259" r:id="rId4"/>
    <p:sldId id="260" r:id="rId5"/>
    <p:sldId id="261" r:id="rId6"/>
    <p:sldId id="265" r:id="rId7"/>
    <p:sldId id="263" r:id="rId8"/>
    <p:sldId id="272" r:id="rId9"/>
    <p:sldId id="269" r:id="rId10"/>
    <p:sldId id="271" r:id="rId11"/>
    <p:sldId id="270" r:id="rId12"/>
    <p:sldId id="264" r:id="rId13"/>
    <p:sldId id="266" r:id="rId14"/>
    <p:sldId id="262"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ajwal Patil" initials="PP" lastIdx="1" clrIdx="0">
    <p:extLst>
      <p:ext uri="{19B8F6BF-5375-455C-9EA6-DF929625EA0E}">
        <p15:presenceInfo xmlns:p15="http://schemas.microsoft.com/office/powerpoint/2012/main" userId="Prajwal Pati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660"/>
  </p:normalViewPr>
  <p:slideViewPr>
    <p:cSldViewPr snapToGrid="0">
      <p:cViewPr varScale="1">
        <p:scale>
          <a:sx n="62" d="100"/>
          <a:sy n="62" d="100"/>
        </p:scale>
        <p:origin x="75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GB"/>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77891A4-8297-4A89-999A-989728E9BC6F}" type="datetimeFigureOut">
              <a:rPr lang="en-US" smtClean="0"/>
              <a:t>22-Jun-26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893567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77891A4-8297-4A89-999A-989728E9BC6F}" type="datetimeFigureOut">
              <a:rPr lang="en-US" smtClean="0"/>
              <a:t>22-Jun-26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729590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77891A4-8297-4A89-999A-989728E9BC6F}" type="datetimeFigureOut">
              <a:rPr lang="en-US" smtClean="0"/>
              <a:t>22-Jun-26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3270838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77891A4-8297-4A89-999A-989728E9BC6F}" type="datetimeFigureOut">
              <a:rPr lang="en-US" smtClean="0"/>
              <a:t>22-Jun-26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3873100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77891A4-8297-4A89-999A-989728E9BC6F}" type="datetimeFigureOut">
              <a:rPr lang="en-US" smtClean="0"/>
              <a:t>22-Jun-26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3726136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77891A4-8297-4A89-999A-989728E9BC6F}" type="datetimeFigureOut">
              <a:rPr lang="en-US" smtClean="0"/>
              <a:t>22-Jun-26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1943771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7891A4-8297-4A89-999A-989728E9BC6F}" type="datetimeFigureOut">
              <a:rPr lang="en-US" smtClean="0"/>
              <a:t>22-Jun-26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1592554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77891A4-8297-4A89-999A-989728E9BC6F}" type="datetimeFigureOut">
              <a:rPr lang="en-US" smtClean="0"/>
              <a:t>22-Jun-26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377687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77891A4-8297-4A89-999A-989728E9BC6F}" type="datetimeFigureOut">
              <a:rPr lang="en-US" smtClean="0"/>
              <a:t>22-Jun-26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3316229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77891A4-8297-4A89-999A-989728E9BC6F}" type="datetimeFigureOut">
              <a:rPr lang="en-US" smtClean="0"/>
              <a:t>22-Jun-26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3206452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77891A4-8297-4A89-999A-989728E9BC6F}" type="datetimeFigureOut">
              <a:rPr lang="en-US" smtClean="0"/>
              <a:t>22-Jun-26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3756354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77891A4-8297-4A89-999A-989728E9BC6F}" type="datetimeFigureOut">
              <a:rPr lang="en-US" smtClean="0"/>
              <a:t>22-Jun-26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5164B-41B5-4318-9D7F-6D7992D2A536}"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282047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77891A4-8297-4A89-999A-989728E9BC6F}" type="datetimeFigureOut">
              <a:rPr lang="en-US" smtClean="0"/>
              <a:t>22-Jun-26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30148886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GB"/>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B77891A4-8297-4A89-999A-989728E9BC6F}" type="datetimeFigureOut">
              <a:rPr lang="en-US" smtClean="0"/>
              <a:t>22-Jun-26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353206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B77891A4-8297-4A89-999A-989728E9BC6F}" type="datetimeFigureOut">
              <a:rPr lang="en-US" smtClean="0"/>
              <a:t>22-Jun-26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1742501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77891A4-8297-4A89-999A-989728E9BC6F}" type="datetimeFigureOut">
              <a:rPr lang="en-US" smtClean="0"/>
              <a:t>22-Jun-26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5457269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77891A4-8297-4A89-999A-989728E9BC6F}" type="datetimeFigureOut">
              <a:rPr lang="en-US" smtClean="0"/>
              <a:t>22-Jun-26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5164B-41B5-4318-9D7F-6D7992D2A536}" type="slidenum">
              <a:rPr lang="en-US" smtClean="0"/>
              <a:t>‹#›</a:t>
            </a:fld>
            <a:endParaRPr lang="en-US"/>
          </a:p>
        </p:txBody>
      </p:sp>
    </p:spTree>
    <p:extLst>
      <p:ext uri="{BB962C8B-B14F-4D97-AF65-F5344CB8AC3E}">
        <p14:creationId xmlns:p14="http://schemas.microsoft.com/office/powerpoint/2010/main" val="1119805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77891A4-8297-4A89-999A-989728E9BC6F}" type="datetimeFigureOut">
              <a:rPr lang="en-US" smtClean="0"/>
              <a:t>22-Jun-26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E65164B-41B5-4318-9D7F-6D7992D2A536}" type="slidenum">
              <a:rPr lang="en-US" smtClean="0"/>
              <a:t>‹#›</a:t>
            </a:fld>
            <a:endParaRPr lang="en-US"/>
          </a:p>
        </p:txBody>
      </p:sp>
    </p:spTree>
    <p:extLst>
      <p:ext uri="{BB962C8B-B14F-4D97-AF65-F5344CB8AC3E}">
        <p14:creationId xmlns:p14="http://schemas.microsoft.com/office/powerpoint/2010/main" val="2201344718"/>
      </p:ext>
    </p:extLst>
  </p:cSld>
  <p:clrMap bg1="dk1" tx1="lt1" bg2="dk2" tx2="lt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 id="2147483858" r:id="rId13"/>
    <p:sldLayoutId id="2147483859" r:id="rId14"/>
    <p:sldLayoutId id="2147483860" r:id="rId15"/>
    <p:sldLayoutId id="2147483861" r:id="rId16"/>
    <p:sldLayoutId id="2147483862"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FECF0-EEC6-4385-A8DF-5D77E2AFA79A}"/>
              </a:ext>
            </a:extLst>
          </p:cNvPr>
          <p:cNvSpPr>
            <a:spLocks noGrp="1"/>
          </p:cNvSpPr>
          <p:nvPr>
            <p:ph type="ctrTitle"/>
          </p:nvPr>
        </p:nvSpPr>
        <p:spPr>
          <a:xfrm>
            <a:off x="2688164" y="1617045"/>
            <a:ext cx="6815669" cy="1058779"/>
          </a:xfrm>
        </p:spPr>
        <p:txBody>
          <a:bodyPr>
            <a:normAutofit/>
          </a:bodyPr>
          <a:lstStyle/>
          <a:p>
            <a:pPr algn="ctr"/>
            <a:r>
              <a:rPr lang="en-US" sz="4000" b="1" dirty="0">
                <a:latin typeface="Times New Roman" panose="02020603050405020304" pitchFamily="18" charset="0"/>
                <a:cs typeface="Times New Roman" panose="02020603050405020304" pitchFamily="18" charset="0"/>
              </a:rPr>
              <a:t>SUPPLY CHAIN ANALYSIS </a:t>
            </a:r>
          </a:p>
        </p:txBody>
      </p:sp>
      <p:sp>
        <p:nvSpPr>
          <p:cNvPr id="5" name="Subtitle 4">
            <a:extLst>
              <a:ext uri="{FF2B5EF4-FFF2-40B4-BE49-F238E27FC236}">
                <a16:creationId xmlns:a16="http://schemas.microsoft.com/office/drawing/2014/main" id="{72AB06AF-0D18-4E27-A638-FB9B998D77CB}"/>
              </a:ext>
            </a:extLst>
          </p:cNvPr>
          <p:cNvSpPr>
            <a:spLocks noGrp="1"/>
          </p:cNvSpPr>
          <p:nvPr>
            <p:ph type="subTitle" idx="1"/>
          </p:nvPr>
        </p:nvSpPr>
        <p:spPr>
          <a:xfrm>
            <a:off x="2688163" y="3057223"/>
            <a:ext cx="6815669" cy="3117545"/>
          </a:xfrm>
        </p:spPr>
        <p:txBody>
          <a:bodyPr>
            <a:normAutofit/>
          </a:bodyPr>
          <a:lstStyle/>
          <a:p>
            <a:pPr algn="ctr"/>
            <a:r>
              <a:rPr lang="en-US" sz="1800" spc="300" dirty="0">
                <a:solidFill>
                  <a:schemeClr val="tx1">
                    <a:lumMod val="85000"/>
                    <a:lumOff val="15000"/>
                  </a:schemeClr>
                </a:solidFill>
                <a:latin typeface="Aptos"/>
                <a:ea typeface="+mn-lt"/>
                <a:cs typeface="Times New Roman"/>
              </a:rPr>
              <a:t>PRESENTED BY:</a:t>
            </a:r>
            <a:endParaRPr lang="en-US" sz="1800" spc="300" dirty="0">
              <a:solidFill>
                <a:schemeClr val="tx1">
                  <a:lumMod val="85000"/>
                  <a:lumOff val="15000"/>
                </a:schemeClr>
              </a:solidFill>
              <a:latin typeface="Aptos"/>
              <a:cs typeface="Times New Roman"/>
            </a:endParaRPr>
          </a:p>
          <a:p>
            <a:pPr algn="ctr"/>
            <a:r>
              <a:rPr lang="en-US" sz="2400" b="1" spc="300" dirty="0">
                <a:solidFill>
                  <a:schemeClr val="tx1">
                    <a:lumMod val="85000"/>
                    <a:lumOff val="15000"/>
                  </a:schemeClr>
                </a:solidFill>
                <a:latin typeface="Aptos"/>
                <a:ea typeface="+mn-lt"/>
                <a:cs typeface="Times New Roman"/>
              </a:rPr>
              <a:t>PRAJWAL R PATIL</a:t>
            </a:r>
            <a:endParaRPr lang="en-US" sz="2400" b="1" spc="300" dirty="0">
              <a:solidFill>
                <a:schemeClr val="tx1">
                  <a:lumMod val="85000"/>
                  <a:lumOff val="15000"/>
                </a:schemeClr>
              </a:solidFill>
              <a:latin typeface="Aptos"/>
              <a:cs typeface="Times New Roman"/>
            </a:endParaRPr>
          </a:p>
          <a:p>
            <a:pPr algn="ctr"/>
            <a:r>
              <a:rPr lang="en-US" sz="1800" spc="300" dirty="0">
                <a:solidFill>
                  <a:schemeClr val="tx1">
                    <a:lumMod val="85000"/>
                    <a:lumOff val="15000"/>
                  </a:schemeClr>
                </a:solidFill>
                <a:effectLst/>
                <a:latin typeface="Aptos"/>
                <a:ea typeface="+mn-lt"/>
                <a:cs typeface="Times New Roman"/>
              </a:rPr>
              <a:t>CERTIFIED DATA ANALYST (CDA-JAN-05)</a:t>
            </a:r>
            <a:endParaRPr lang="en-US" sz="1800" spc="300" dirty="0">
              <a:solidFill>
                <a:schemeClr val="tx1">
                  <a:lumMod val="85000"/>
                  <a:lumOff val="15000"/>
                </a:schemeClr>
              </a:solidFill>
              <a:effectLst/>
              <a:latin typeface="Aptos"/>
              <a:cs typeface="Times New Roman"/>
            </a:endParaRPr>
          </a:p>
          <a:p>
            <a:pPr algn="ctr"/>
            <a:r>
              <a:rPr lang="en-US" sz="1800" spc="300" dirty="0">
                <a:solidFill>
                  <a:schemeClr val="tx1">
                    <a:lumMod val="85000"/>
                    <a:lumOff val="15000"/>
                  </a:schemeClr>
                </a:solidFill>
                <a:effectLst/>
                <a:latin typeface="Aptos"/>
                <a:ea typeface="+mn-lt"/>
                <a:cs typeface="Times New Roman"/>
              </a:rPr>
              <a:t>REGISTER NO: CA12202540402</a:t>
            </a:r>
            <a:endParaRPr lang="en-US" sz="1800" spc="300" dirty="0">
              <a:effectLst/>
            </a:endParaRPr>
          </a:p>
        </p:txBody>
      </p:sp>
    </p:spTree>
    <p:extLst>
      <p:ext uri="{BB962C8B-B14F-4D97-AF65-F5344CB8AC3E}">
        <p14:creationId xmlns:p14="http://schemas.microsoft.com/office/powerpoint/2010/main" val="319820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CD9EE-B6D8-4254-BDBB-D22B5555248D}"/>
              </a:ext>
            </a:extLst>
          </p:cNvPr>
          <p:cNvSpPr>
            <a:spLocks noGrp="1"/>
          </p:cNvSpPr>
          <p:nvPr>
            <p:ph type="title"/>
          </p:nvPr>
        </p:nvSpPr>
        <p:spPr>
          <a:xfrm>
            <a:off x="913795" y="616017"/>
            <a:ext cx="10353762" cy="1395664"/>
          </a:xfrm>
        </p:spPr>
        <p:txBody>
          <a:bodyPr>
            <a:normAutofit/>
          </a:bodyPr>
          <a:lstStyle/>
          <a:p>
            <a:pPr algn="l"/>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a:t>
            </a:r>
            <a:br>
              <a:rPr kumimoji="0" lang="en-US" altLang="en-US" sz="4000" b="1" i="0" u="none" strike="noStrike" cap="none" normalizeH="0" baseline="0" dirty="0">
                <a:ln>
                  <a:noFill/>
                </a:ln>
                <a:solidFill>
                  <a:schemeClr val="tx1"/>
                </a:solidFill>
                <a:effectLst/>
                <a:latin typeface="Arial" panose="020B0604020202020204" pitchFamily="34" charset="0"/>
              </a:rPr>
            </a:br>
            <a:endParaRPr lang="en-US" dirty="0"/>
          </a:p>
        </p:txBody>
      </p:sp>
      <p:sp>
        <p:nvSpPr>
          <p:cNvPr id="6" name="Rectangle 1">
            <a:extLst>
              <a:ext uri="{FF2B5EF4-FFF2-40B4-BE49-F238E27FC236}">
                <a16:creationId xmlns:a16="http://schemas.microsoft.com/office/drawing/2014/main" id="{BC4B4845-2063-45FB-A8AD-7625368E1E7C}"/>
              </a:ext>
            </a:extLst>
          </p:cNvPr>
          <p:cNvSpPr>
            <a:spLocks noGrp="1" noChangeArrowheads="1"/>
          </p:cNvSpPr>
          <p:nvPr>
            <p:ph idx="1"/>
          </p:nvPr>
        </p:nvSpPr>
        <p:spPr bwMode="auto">
          <a:xfrm>
            <a:off x="913795" y="1528479"/>
            <a:ext cx="10353762" cy="3801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6900" indent="0">
              <a:buNone/>
            </a:pPr>
            <a:r>
              <a:rPr lang="en-US" dirty="0">
                <a:latin typeface="Aptos"/>
              </a:rPr>
              <a:t>Supply Chain Management plays a critical role in ensuring the smooth flow of products from suppliers to customers. Effective supply chain operations help organizations reduce costs, improve product availability, enhance customer satisfaction, and increase overall profitability.</a:t>
            </a:r>
          </a:p>
          <a:p>
            <a:pPr marL="36900" indent="0">
              <a:buNone/>
            </a:pPr>
            <a:r>
              <a:rPr lang="en-US" dirty="0">
                <a:latin typeface="Aptos"/>
              </a:rPr>
              <a:t>This project focuses on analyzing various aspects of the supply chain, including inventory management, supplier performance, manufacturing efficiency, logistics operations, and product quality. Using Power BI, an interactive dashboard was developed to transform raw supply chain data into meaningful insights.</a:t>
            </a:r>
          </a:p>
          <a:p>
            <a:pPr marL="36900" indent="0">
              <a:buNone/>
            </a:pPr>
            <a:r>
              <a:rPr lang="en-US" dirty="0">
                <a:latin typeface="Aptos"/>
              </a:rPr>
              <a:t>The dashboard enables stakeholders to monitor key performance indicators (KPIs), identify operational bottlenecks, evaluate product performance, and make data-driven decisions to improve supply chain efficiency and business performance.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150963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DBC5F-3D0F-4FA2-AC63-E32C9ED8E6E0}"/>
              </a:ext>
            </a:extLst>
          </p:cNvPr>
          <p:cNvSpPr>
            <a:spLocks noGrp="1"/>
          </p:cNvSpPr>
          <p:nvPr>
            <p:ph type="title"/>
          </p:nvPr>
        </p:nvSpPr>
        <p:spPr/>
        <p:txBody>
          <a:bodyPr/>
          <a:lstStyle/>
          <a:p>
            <a:pPr algn="l"/>
            <a:r>
              <a:rPr lang="en-US" b="1" dirty="0">
                <a:latin typeface="Times New Roman" panose="02020603050405020304" pitchFamily="18" charset="0"/>
                <a:cs typeface="Times New Roman" panose="02020603050405020304" pitchFamily="18" charset="0"/>
              </a:rPr>
              <a:t>Project Overview</a:t>
            </a:r>
          </a:p>
        </p:txBody>
      </p:sp>
      <p:sp>
        <p:nvSpPr>
          <p:cNvPr id="3" name="Content Placeholder 2">
            <a:extLst>
              <a:ext uri="{FF2B5EF4-FFF2-40B4-BE49-F238E27FC236}">
                <a16:creationId xmlns:a16="http://schemas.microsoft.com/office/drawing/2014/main" id="{4664A045-074E-4F71-8238-4D42957B97ED}"/>
              </a:ext>
            </a:extLst>
          </p:cNvPr>
          <p:cNvSpPr>
            <a:spLocks noGrp="1"/>
          </p:cNvSpPr>
          <p:nvPr>
            <p:ph idx="1"/>
          </p:nvPr>
        </p:nvSpPr>
        <p:spPr/>
        <p:txBody>
          <a:bodyPr>
            <a:normAutofit/>
          </a:bodyPr>
          <a:lstStyle/>
          <a:p>
            <a:pPr marL="36900" indent="0">
              <a:buNone/>
            </a:pPr>
            <a:r>
              <a:rPr lang="en-US" dirty="0">
                <a:latin typeface="Aptos"/>
              </a:rPr>
              <a:t>The Supply Chain Analysis Project is designed to analyze and monitor the end-to-end supply chain operations of a company. The project focuses on key business areas such as inventory management, demand forecasting, supplier performance, manufacturing efficiency, logistics operations, and product quality.</a:t>
            </a:r>
          </a:p>
          <a:p>
            <a:pPr marL="36900" indent="0">
              <a:buNone/>
            </a:pPr>
            <a:r>
              <a:rPr lang="en-US" dirty="0">
                <a:latin typeface="Aptos"/>
              </a:rPr>
              <a:t>Using Power BI, interactive dashboards were developed to transform raw supply chain data into meaningful insights. The analysis helps identify operational bottlenecks, reduce costs, improve inventory utilization, optimize transportation performance, and enhance product quality.</a:t>
            </a:r>
          </a:p>
          <a:p>
            <a:pPr marL="36900" indent="0">
              <a:buNone/>
            </a:pPr>
            <a:r>
              <a:rPr lang="en-US" dirty="0">
                <a:latin typeface="Aptos"/>
              </a:rPr>
              <a:t>The dataset contains information related to products, stock levels, sales, suppliers, manufacturing costs, shipping details, transportation modes, and defect rates. By analyzing these factors, the dashboard enables management to make data-driven decisions and improve overall supply chain performance.</a:t>
            </a:r>
          </a:p>
          <a:p>
            <a:endParaRPr lang="en-US" dirty="0"/>
          </a:p>
        </p:txBody>
      </p:sp>
    </p:spTree>
    <p:extLst>
      <p:ext uri="{BB962C8B-B14F-4D97-AF65-F5344CB8AC3E}">
        <p14:creationId xmlns:p14="http://schemas.microsoft.com/office/powerpoint/2010/main" val="687321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B5DB3-62FE-4567-933D-89633E5EA05F}"/>
              </a:ext>
            </a:extLst>
          </p:cNvPr>
          <p:cNvSpPr>
            <a:spLocks noGrp="1"/>
          </p:cNvSpPr>
          <p:nvPr>
            <p:ph type="title"/>
          </p:nvPr>
        </p:nvSpPr>
        <p:spPr/>
        <p:txBody>
          <a:bodyPr/>
          <a:lstStyle/>
          <a:p>
            <a:pPr algn="l"/>
            <a:r>
              <a:rPr lang="en-US" b="1" dirty="0">
                <a:solidFill>
                  <a:schemeClr val="tx1"/>
                </a:solidFill>
                <a:latin typeface="Times New Roman" panose="02020603050405020304" pitchFamily="18" charset="0"/>
                <a:cs typeface="Times New Roman" panose="02020603050405020304" pitchFamily="18" charset="0"/>
              </a:rPr>
              <a:t>Objectives</a:t>
            </a:r>
          </a:p>
        </p:txBody>
      </p:sp>
      <p:sp>
        <p:nvSpPr>
          <p:cNvPr id="4" name="Rectangle 1">
            <a:extLst>
              <a:ext uri="{FF2B5EF4-FFF2-40B4-BE49-F238E27FC236}">
                <a16:creationId xmlns:a16="http://schemas.microsoft.com/office/drawing/2014/main" id="{A6635A8B-67DB-41B9-9257-DEC347325043}"/>
              </a:ext>
            </a:extLst>
          </p:cNvPr>
          <p:cNvSpPr>
            <a:spLocks noGrp="1" noChangeArrowheads="1"/>
          </p:cNvSpPr>
          <p:nvPr>
            <p:ph idx="1"/>
          </p:nvPr>
        </p:nvSpPr>
        <p:spPr bwMode="auto">
          <a:xfrm>
            <a:off x="924443" y="1449259"/>
            <a:ext cx="9221607"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indent="-34290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Monitor inventory and demand. </a:t>
            </a:r>
          </a:p>
          <a:p>
            <a:pPr indent="-34290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Evaluate supplier and manufacturing performance. </a:t>
            </a:r>
          </a:p>
          <a:p>
            <a:pPr indent="-34290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Analyze logistics and transportation efficiency. </a:t>
            </a:r>
          </a:p>
          <a:p>
            <a:pPr indent="-34290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Measure product quality and defect rates. </a:t>
            </a:r>
          </a:p>
          <a:p>
            <a:pPr indent="-34290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Compare product performance and profitability. </a:t>
            </a:r>
          </a:p>
          <a:p>
            <a:pPr indent="-34290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Support data-driven decision-making. </a:t>
            </a:r>
          </a:p>
          <a:p>
            <a:pPr indent="-34290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Improve overall supply chain efficiency. </a:t>
            </a:r>
          </a:p>
        </p:txBody>
      </p:sp>
    </p:spTree>
    <p:extLst>
      <p:ext uri="{BB962C8B-B14F-4D97-AF65-F5344CB8AC3E}">
        <p14:creationId xmlns:p14="http://schemas.microsoft.com/office/powerpoint/2010/main" val="1877993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461A5-833E-454B-AFFA-664C6FEDDCAB}"/>
              </a:ext>
            </a:extLst>
          </p:cNvPr>
          <p:cNvSpPr>
            <a:spLocks noGrp="1"/>
          </p:cNvSpPr>
          <p:nvPr>
            <p:ph type="title"/>
          </p:nvPr>
        </p:nvSpPr>
        <p:spPr/>
        <p:txBody>
          <a:bodyPr>
            <a:normAutofit/>
          </a:bodyPr>
          <a:lstStyle/>
          <a:p>
            <a:pPr algn="l"/>
            <a:r>
              <a:rPr lang="en-US" b="1" kern="1200" spc="0" baseline="0" dirty="0">
                <a:solidFill>
                  <a:schemeClr val="tx1"/>
                </a:solidFill>
                <a:effectLst/>
                <a:latin typeface="Times New Roman" panose="02020603050405020304" pitchFamily="18" charset="0"/>
                <a:ea typeface="+mn-ea"/>
                <a:cs typeface="Times New Roman" panose="02020603050405020304" pitchFamily="18" charset="0"/>
              </a:rPr>
              <a:t>Motivation for Choosing the Dataset</a:t>
            </a:r>
            <a:endParaRPr lang="en-US" sz="7200" b="1" dirty="0">
              <a:solidFill>
                <a:schemeClr val="tx1"/>
              </a:solidFill>
            </a:endParaRPr>
          </a:p>
        </p:txBody>
      </p:sp>
      <p:sp>
        <p:nvSpPr>
          <p:cNvPr id="5" name="Rectangle 2">
            <a:extLst>
              <a:ext uri="{FF2B5EF4-FFF2-40B4-BE49-F238E27FC236}">
                <a16:creationId xmlns:a16="http://schemas.microsoft.com/office/drawing/2014/main" id="{AACF6FF5-EA2D-47AD-BBFC-999E96168676}"/>
              </a:ext>
            </a:extLst>
          </p:cNvPr>
          <p:cNvSpPr>
            <a:spLocks noGrp="1" noChangeArrowheads="1"/>
          </p:cNvSpPr>
          <p:nvPr>
            <p:ph idx="1"/>
          </p:nvPr>
        </p:nvSpPr>
        <p:spPr bwMode="auto">
          <a:xfrm>
            <a:off x="913795" y="1407067"/>
            <a:ext cx="10353762"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indent="-34290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Supply chain management is a critical function that directly impacts business performance, customer satisfaction, and profitability. </a:t>
            </a:r>
          </a:p>
          <a:p>
            <a:pPr indent="-34290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The dataset contains real-world supply chain metrics such as inventory levels, supplier information, manufacturing costs, shipping details, and product quality data. </a:t>
            </a:r>
          </a:p>
          <a:p>
            <a:pPr indent="-34290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It provides an opportunity to analyze multiple business operations within a single project. </a:t>
            </a:r>
          </a:p>
          <a:p>
            <a:pPr indent="-34290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The dataset helps in understanding how inventory, suppliers, logistics, and product quality influence overall supply chain efficiency. </a:t>
            </a:r>
          </a:p>
          <a:p>
            <a:pPr indent="-34290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It is suitable for applying data analytics and visualization techniques using Power BI. </a:t>
            </a:r>
          </a:p>
          <a:p>
            <a:pPr indent="-34290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The project enables the identification of operational bottlenecks and supports data-driven decision-making. </a:t>
            </a:r>
          </a:p>
        </p:txBody>
      </p:sp>
    </p:spTree>
    <p:extLst>
      <p:ext uri="{BB962C8B-B14F-4D97-AF65-F5344CB8AC3E}">
        <p14:creationId xmlns:p14="http://schemas.microsoft.com/office/powerpoint/2010/main" val="2385654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6ECC9-E1F3-4523-AF7D-DC26C4CD4AA3}"/>
              </a:ext>
            </a:extLst>
          </p:cNvPr>
          <p:cNvSpPr>
            <a:spLocks noGrp="1"/>
          </p:cNvSpPr>
          <p:nvPr>
            <p:ph type="title"/>
          </p:nvPr>
        </p:nvSpPr>
        <p:spPr/>
        <p:txBody>
          <a:bodyPr/>
          <a:lstStyle/>
          <a:p>
            <a:pPr algn="l"/>
            <a:r>
              <a:rPr lang="en-US" b="1" dirty="0">
                <a:latin typeface="Times New Roman" panose="02020603050405020304" pitchFamily="18" charset="0"/>
                <a:cs typeface="Times New Roman" panose="02020603050405020304" pitchFamily="18" charset="0"/>
              </a:rPr>
              <a:t>Dashboard Overview</a:t>
            </a:r>
          </a:p>
        </p:txBody>
      </p:sp>
      <p:sp>
        <p:nvSpPr>
          <p:cNvPr id="3" name="Content Placeholder 2">
            <a:extLst>
              <a:ext uri="{FF2B5EF4-FFF2-40B4-BE49-F238E27FC236}">
                <a16:creationId xmlns:a16="http://schemas.microsoft.com/office/drawing/2014/main" id="{60FBCE2B-F956-46AE-9397-C1F6A6C540A3}"/>
              </a:ext>
            </a:extLst>
          </p:cNvPr>
          <p:cNvSpPr>
            <a:spLocks noGrp="1"/>
          </p:cNvSpPr>
          <p:nvPr>
            <p:ph idx="1"/>
          </p:nvPr>
        </p:nvSpPr>
        <p:spPr/>
        <p:txBody>
          <a:bodyPr/>
          <a:lstStyle/>
          <a:p>
            <a:pPr marL="36900" indent="0">
              <a:buNone/>
            </a:pPr>
            <a:r>
              <a:rPr lang="en-US" dirty="0">
                <a:latin typeface="Aptos"/>
              </a:rPr>
              <a:t>The Supply Chain Analysis Dashboard is an interactive Power BI solution designed to provide a complete view of supply chain operations. It consolidates data related to inventory, suppliers, manufacturing, logistics, and product quality into a single platform for easy monitoring and analysis.</a:t>
            </a:r>
          </a:p>
          <a:p>
            <a:pPr marL="36900" indent="0">
              <a:buNone/>
            </a:pPr>
            <a:r>
              <a:rPr lang="en-US" dirty="0">
                <a:latin typeface="Aptos"/>
              </a:rPr>
              <a:t>The dashboard helps stakeholders track key performance indicators (KPIs), identify operational bottlenecks, evaluate product performance, and make data-driven decisions. By visualizing critical supply chain metrics, the dashboard enables organizations to improve efficiency, reduce costs, optimize inventory levels, and enhance overall business performance.</a:t>
            </a:r>
          </a:p>
          <a:p>
            <a:endParaRPr lang="en-US" dirty="0"/>
          </a:p>
        </p:txBody>
      </p:sp>
    </p:spTree>
    <p:extLst>
      <p:ext uri="{BB962C8B-B14F-4D97-AF65-F5344CB8AC3E}">
        <p14:creationId xmlns:p14="http://schemas.microsoft.com/office/powerpoint/2010/main" val="4073866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247D3-5469-4AE0-80E7-028CAA093BAE}"/>
              </a:ext>
            </a:extLst>
          </p:cNvPr>
          <p:cNvSpPr>
            <a:spLocks noGrp="1"/>
          </p:cNvSpPr>
          <p:nvPr>
            <p:ph type="title"/>
          </p:nvPr>
        </p:nvSpPr>
        <p:spPr>
          <a:xfrm>
            <a:off x="184935" y="-20548"/>
            <a:ext cx="10353762" cy="873304"/>
          </a:xfrm>
        </p:spPr>
        <p:txBody>
          <a:bodyPr/>
          <a:lstStyle/>
          <a:p>
            <a:pPr algn="l"/>
            <a:r>
              <a:rPr lang="en-US" b="1" dirty="0">
                <a:latin typeface="Times New Roman" panose="02020603050405020304" pitchFamily="18" charset="0"/>
                <a:cs typeface="Times New Roman" panose="02020603050405020304" pitchFamily="18" charset="0"/>
              </a:rPr>
              <a:t>Executive Overview</a:t>
            </a:r>
          </a:p>
        </p:txBody>
      </p:sp>
      <p:pic>
        <p:nvPicPr>
          <p:cNvPr id="5" name="Content Placeholder 4">
            <a:extLst>
              <a:ext uri="{FF2B5EF4-FFF2-40B4-BE49-F238E27FC236}">
                <a16:creationId xmlns:a16="http://schemas.microsoft.com/office/drawing/2014/main" id="{E8B576DA-3840-4E66-9564-980846464F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935" y="863030"/>
            <a:ext cx="11822130" cy="5866544"/>
          </a:xfrm>
        </p:spPr>
      </p:pic>
    </p:spTree>
    <p:extLst>
      <p:ext uri="{BB962C8B-B14F-4D97-AF65-F5344CB8AC3E}">
        <p14:creationId xmlns:p14="http://schemas.microsoft.com/office/powerpoint/2010/main" val="1389279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B8562-4CC8-4EB4-A8D6-1CFBFD684504}"/>
              </a:ext>
            </a:extLst>
          </p:cNvPr>
          <p:cNvSpPr>
            <a:spLocks noGrp="1"/>
          </p:cNvSpPr>
          <p:nvPr>
            <p:ph type="title"/>
          </p:nvPr>
        </p:nvSpPr>
        <p:spPr>
          <a:xfrm>
            <a:off x="215153" y="0"/>
            <a:ext cx="10353762" cy="970450"/>
          </a:xfrm>
        </p:spPr>
        <p:txBody>
          <a:bodyPr/>
          <a:lstStyle/>
          <a:p>
            <a:pPr algn="l"/>
            <a:r>
              <a:rPr lang="en-US" b="1" dirty="0">
                <a:latin typeface="Times New Roman" panose="02020603050405020304" pitchFamily="18" charset="0"/>
                <a:cs typeface="Times New Roman" panose="02020603050405020304" pitchFamily="18" charset="0"/>
              </a:rPr>
              <a:t>Inventory &amp; Demand Analysis</a:t>
            </a:r>
          </a:p>
        </p:txBody>
      </p:sp>
      <p:pic>
        <p:nvPicPr>
          <p:cNvPr id="5" name="Content Placeholder 4">
            <a:extLst>
              <a:ext uri="{FF2B5EF4-FFF2-40B4-BE49-F238E27FC236}">
                <a16:creationId xmlns:a16="http://schemas.microsoft.com/office/drawing/2014/main" id="{F05BBA77-973B-4DDE-A334-E01F582976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5153" y="918577"/>
            <a:ext cx="11761694" cy="5790448"/>
          </a:xfrm>
        </p:spPr>
      </p:pic>
    </p:spTree>
    <p:extLst>
      <p:ext uri="{BB962C8B-B14F-4D97-AF65-F5344CB8AC3E}">
        <p14:creationId xmlns:p14="http://schemas.microsoft.com/office/powerpoint/2010/main" val="3934319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54FDC-F49E-4C93-8EF8-46B7F5C154B2}"/>
              </a:ext>
            </a:extLst>
          </p:cNvPr>
          <p:cNvSpPr>
            <a:spLocks noGrp="1"/>
          </p:cNvSpPr>
          <p:nvPr>
            <p:ph type="title"/>
          </p:nvPr>
        </p:nvSpPr>
        <p:spPr>
          <a:xfrm>
            <a:off x="287072" y="0"/>
            <a:ext cx="10353762" cy="970450"/>
          </a:xfrm>
        </p:spPr>
        <p:txBody>
          <a:bodyPr/>
          <a:lstStyle/>
          <a:p>
            <a:pPr algn="l"/>
            <a:r>
              <a:rPr lang="en-US" b="1" dirty="0">
                <a:latin typeface="Times New Roman" panose="02020603050405020304" pitchFamily="18" charset="0"/>
                <a:cs typeface="Times New Roman" panose="02020603050405020304" pitchFamily="18" charset="0"/>
              </a:rPr>
              <a:t>Supplier &amp; Manufacturing Performance</a:t>
            </a:r>
          </a:p>
        </p:txBody>
      </p:sp>
      <p:pic>
        <p:nvPicPr>
          <p:cNvPr id="5" name="Content Placeholder 4">
            <a:extLst>
              <a:ext uri="{FF2B5EF4-FFF2-40B4-BE49-F238E27FC236}">
                <a16:creationId xmlns:a16="http://schemas.microsoft.com/office/drawing/2014/main" id="{C99BA114-2080-4356-9931-D5DB977662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7072" y="970451"/>
            <a:ext cx="11754240" cy="5759122"/>
          </a:xfrm>
        </p:spPr>
      </p:pic>
    </p:spTree>
    <p:extLst>
      <p:ext uri="{BB962C8B-B14F-4D97-AF65-F5344CB8AC3E}">
        <p14:creationId xmlns:p14="http://schemas.microsoft.com/office/powerpoint/2010/main" val="2890387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D1709-271D-4454-8672-0D54D6318EAB}"/>
              </a:ext>
            </a:extLst>
          </p:cNvPr>
          <p:cNvSpPr>
            <a:spLocks noGrp="1"/>
          </p:cNvSpPr>
          <p:nvPr>
            <p:ph type="title"/>
          </p:nvPr>
        </p:nvSpPr>
        <p:spPr>
          <a:xfrm>
            <a:off x="241025" y="0"/>
            <a:ext cx="10353762" cy="970450"/>
          </a:xfrm>
        </p:spPr>
        <p:txBody>
          <a:bodyPr/>
          <a:lstStyle/>
          <a:p>
            <a:pPr algn="l"/>
            <a:r>
              <a:rPr lang="en-US" b="1" dirty="0">
                <a:latin typeface="Times New Roman" panose="02020603050405020304" pitchFamily="18" charset="0"/>
                <a:cs typeface="Times New Roman" panose="02020603050405020304" pitchFamily="18" charset="0"/>
              </a:rPr>
              <a:t>Logistics &amp; Transportation Analysis</a:t>
            </a:r>
          </a:p>
        </p:txBody>
      </p:sp>
      <p:pic>
        <p:nvPicPr>
          <p:cNvPr id="5" name="Content Placeholder 4">
            <a:extLst>
              <a:ext uri="{FF2B5EF4-FFF2-40B4-BE49-F238E27FC236}">
                <a16:creationId xmlns:a16="http://schemas.microsoft.com/office/drawing/2014/main" id="{017365B8-8D51-4EF8-84D1-E3065B6810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306" y="970449"/>
            <a:ext cx="11815281" cy="5738575"/>
          </a:xfrm>
        </p:spPr>
      </p:pic>
    </p:spTree>
    <p:extLst>
      <p:ext uri="{BB962C8B-B14F-4D97-AF65-F5344CB8AC3E}">
        <p14:creationId xmlns:p14="http://schemas.microsoft.com/office/powerpoint/2010/main" val="3113695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8521-626D-4CA6-8E5D-BA2CC44504B4}"/>
              </a:ext>
            </a:extLst>
          </p:cNvPr>
          <p:cNvSpPr>
            <a:spLocks noGrp="1"/>
          </p:cNvSpPr>
          <p:nvPr>
            <p:ph type="title"/>
          </p:nvPr>
        </p:nvSpPr>
        <p:spPr>
          <a:xfrm>
            <a:off x="199928" y="0"/>
            <a:ext cx="10353762" cy="970450"/>
          </a:xfrm>
        </p:spPr>
        <p:txBody>
          <a:bodyPr/>
          <a:lstStyle/>
          <a:p>
            <a:pPr algn="l"/>
            <a:r>
              <a:rPr lang="en-US" b="1" dirty="0">
                <a:latin typeface="Times New Roman" panose="02020603050405020304" pitchFamily="18" charset="0"/>
                <a:cs typeface="Times New Roman" panose="02020603050405020304" pitchFamily="18" charset="0"/>
              </a:rPr>
              <a:t>Quality &amp; Product comparison</a:t>
            </a:r>
          </a:p>
        </p:txBody>
      </p:sp>
      <p:pic>
        <p:nvPicPr>
          <p:cNvPr id="5" name="Content Placeholder 4">
            <a:extLst>
              <a:ext uri="{FF2B5EF4-FFF2-40B4-BE49-F238E27FC236}">
                <a16:creationId xmlns:a16="http://schemas.microsoft.com/office/drawing/2014/main" id="{6B538522-3A33-41C9-B4C7-5ECBC71810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9928" y="970450"/>
            <a:ext cx="11792144" cy="5728301"/>
          </a:xfrm>
        </p:spPr>
      </p:pic>
    </p:spTree>
    <p:extLst>
      <p:ext uri="{BB962C8B-B14F-4D97-AF65-F5344CB8AC3E}">
        <p14:creationId xmlns:p14="http://schemas.microsoft.com/office/powerpoint/2010/main" val="442063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92C21-57BF-43A3-9311-687215A58F5D}"/>
              </a:ext>
            </a:extLst>
          </p:cNvPr>
          <p:cNvSpPr>
            <a:spLocks noGrp="1"/>
          </p:cNvSpPr>
          <p:nvPr>
            <p:ph type="title"/>
          </p:nvPr>
        </p:nvSpPr>
        <p:spPr/>
        <p:txBody>
          <a:bodyPr/>
          <a:lstStyle/>
          <a:p>
            <a:pPr algn="l"/>
            <a:r>
              <a:rPr lang="en-US" b="1" dirty="0">
                <a:latin typeface="Times New Roman" panose="02020603050405020304" pitchFamily="18" charset="0"/>
                <a:cs typeface="Times New Roman" panose="02020603050405020304" pitchFamily="18" charset="0"/>
              </a:rPr>
              <a:t>Methodology </a:t>
            </a:r>
          </a:p>
        </p:txBody>
      </p:sp>
      <p:sp>
        <p:nvSpPr>
          <p:cNvPr id="4" name="Rectangle 1">
            <a:extLst>
              <a:ext uri="{FF2B5EF4-FFF2-40B4-BE49-F238E27FC236}">
                <a16:creationId xmlns:a16="http://schemas.microsoft.com/office/drawing/2014/main" id="{9573A7F5-75B0-49C7-B54E-46E98717044D}"/>
              </a:ext>
            </a:extLst>
          </p:cNvPr>
          <p:cNvSpPr>
            <a:spLocks noGrp="1" noChangeArrowheads="1"/>
          </p:cNvSpPr>
          <p:nvPr>
            <p:ph idx="1"/>
          </p:nvPr>
        </p:nvSpPr>
        <p:spPr bwMode="auto">
          <a:xfrm>
            <a:off x="913795" y="1580050"/>
            <a:ext cx="880555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342900" defTabSz="914400" eaLnBrk="0" fontAlgn="base" hangingPunct="0">
              <a:spcBef>
                <a:spcPct val="0"/>
              </a:spcBef>
              <a:spcAft>
                <a:spcPct val="0"/>
              </a:spcAft>
              <a:buClrTx/>
              <a:buSzTx/>
            </a:pPr>
            <a:r>
              <a:rPr kumimoji="0" lang="en-US" altLang="en-US" b="1" i="0" u="none" strike="noStrike" cap="none" normalizeH="0" baseline="0" dirty="0">
                <a:ln>
                  <a:noFill/>
                </a:ln>
                <a:effectLst/>
                <a:latin typeface="Aptos"/>
              </a:rPr>
              <a:t>Data Collection</a:t>
            </a:r>
            <a:r>
              <a:rPr kumimoji="0" lang="en-US" altLang="en-US" b="0" i="0" u="none" strike="noStrike" cap="none" normalizeH="0" baseline="0" dirty="0">
                <a:ln>
                  <a:noFill/>
                </a:ln>
                <a:effectLst/>
                <a:latin typeface="Aptos"/>
              </a:rPr>
              <a:t> – Gathered supply chain dataset. </a:t>
            </a:r>
          </a:p>
          <a:p>
            <a:pPr indent="-342900" defTabSz="914400" eaLnBrk="0" fontAlgn="base" hangingPunct="0">
              <a:spcBef>
                <a:spcPct val="0"/>
              </a:spcBef>
              <a:spcAft>
                <a:spcPct val="0"/>
              </a:spcAft>
              <a:buClrTx/>
              <a:buSzTx/>
            </a:pPr>
            <a:r>
              <a:rPr kumimoji="0" lang="en-US" altLang="en-US" b="1" i="0" u="none" strike="noStrike" cap="none" normalizeH="0" baseline="0" dirty="0">
                <a:ln>
                  <a:noFill/>
                </a:ln>
                <a:effectLst/>
                <a:latin typeface="Aptos"/>
              </a:rPr>
              <a:t>Data Cleaning</a:t>
            </a:r>
            <a:r>
              <a:rPr kumimoji="0" lang="en-US" altLang="en-US" b="0" i="0" u="none" strike="noStrike" cap="none" normalizeH="0" baseline="0" dirty="0">
                <a:ln>
                  <a:noFill/>
                </a:ln>
                <a:effectLst/>
                <a:latin typeface="Aptos"/>
              </a:rPr>
              <a:t> – Removed errors, duplicates, and missing values. </a:t>
            </a:r>
          </a:p>
          <a:p>
            <a:pPr indent="-342900" defTabSz="914400" eaLnBrk="0" fontAlgn="base" hangingPunct="0">
              <a:spcBef>
                <a:spcPct val="0"/>
              </a:spcBef>
              <a:spcAft>
                <a:spcPct val="0"/>
              </a:spcAft>
              <a:buClrTx/>
              <a:buSzTx/>
            </a:pPr>
            <a:r>
              <a:rPr kumimoji="0" lang="en-US" altLang="en-US" b="1" i="0" u="none" strike="noStrike" cap="none" normalizeH="0" baseline="0" dirty="0">
                <a:ln>
                  <a:noFill/>
                </a:ln>
                <a:effectLst/>
                <a:latin typeface="Aptos"/>
              </a:rPr>
              <a:t>Data Transformation</a:t>
            </a:r>
            <a:r>
              <a:rPr kumimoji="0" lang="en-US" altLang="en-US" b="0" i="0" u="none" strike="noStrike" cap="none" normalizeH="0" baseline="0" dirty="0">
                <a:ln>
                  <a:noFill/>
                </a:ln>
                <a:effectLst/>
                <a:latin typeface="Aptos"/>
              </a:rPr>
              <a:t> – Created KPIs and measures using DAX. </a:t>
            </a:r>
          </a:p>
          <a:p>
            <a:pPr indent="-342900" defTabSz="914400" eaLnBrk="0" fontAlgn="base" hangingPunct="0">
              <a:spcBef>
                <a:spcPct val="0"/>
              </a:spcBef>
              <a:spcAft>
                <a:spcPct val="0"/>
              </a:spcAft>
              <a:buClrTx/>
              <a:buSzTx/>
            </a:pPr>
            <a:r>
              <a:rPr kumimoji="0" lang="en-US" altLang="en-US" b="1" i="0" u="none" strike="noStrike" cap="none" normalizeH="0" baseline="0" dirty="0">
                <a:ln>
                  <a:noFill/>
                </a:ln>
                <a:effectLst/>
                <a:latin typeface="Aptos"/>
              </a:rPr>
              <a:t>Data Analysis</a:t>
            </a:r>
            <a:r>
              <a:rPr kumimoji="0" lang="en-US" altLang="en-US" b="0" i="0" u="none" strike="noStrike" cap="none" normalizeH="0" baseline="0" dirty="0">
                <a:ln>
                  <a:noFill/>
                </a:ln>
                <a:effectLst/>
                <a:latin typeface="Aptos"/>
              </a:rPr>
              <a:t> – Analyzed inventory, suppliers, logistics, and quality. </a:t>
            </a:r>
          </a:p>
          <a:p>
            <a:pPr indent="-342900" defTabSz="914400" eaLnBrk="0" fontAlgn="base" hangingPunct="0">
              <a:spcBef>
                <a:spcPct val="0"/>
              </a:spcBef>
              <a:spcAft>
                <a:spcPct val="0"/>
              </a:spcAft>
              <a:buClrTx/>
              <a:buSzTx/>
            </a:pPr>
            <a:r>
              <a:rPr kumimoji="0" lang="en-US" altLang="en-US" b="1" i="0" u="none" strike="noStrike" cap="none" normalizeH="0" baseline="0" dirty="0">
                <a:ln>
                  <a:noFill/>
                </a:ln>
                <a:effectLst/>
                <a:latin typeface="Aptos"/>
              </a:rPr>
              <a:t>Dashboard Development</a:t>
            </a:r>
            <a:r>
              <a:rPr kumimoji="0" lang="en-US" altLang="en-US" b="0" i="0" u="none" strike="noStrike" cap="none" normalizeH="0" baseline="0" dirty="0">
                <a:ln>
                  <a:noFill/>
                </a:ln>
                <a:effectLst/>
                <a:latin typeface="Aptos"/>
              </a:rPr>
              <a:t> – Built interactive Power BI dashboards. </a:t>
            </a:r>
          </a:p>
          <a:p>
            <a:pPr indent="-342900" defTabSz="914400" eaLnBrk="0" fontAlgn="base" hangingPunct="0">
              <a:spcBef>
                <a:spcPct val="0"/>
              </a:spcBef>
              <a:spcAft>
                <a:spcPct val="0"/>
              </a:spcAft>
              <a:buClrTx/>
              <a:buSzTx/>
            </a:pPr>
            <a:r>
              <a:rPr kumimoji="0" lang="en-US" altLang="en-US" b="1" i="0" u="none" strike="noStrike" cap="none" normalizeH="0" baseline="0" dirty="0">
                <a:ln>
                  <a:noFill/>
                </a:ln>
                <a:effectLst/>
                <a:latin typeface="Aptos"/>
              </a:rPr>
              <a:t>Insights &amp; Recommendations</a:t>
            </a:r>
            <a:r>
              <a:rPr kumimoji="0" lang="en-US" altLang="en-US" b="0" i="0" u="none" strike="noStrike" cap="none" normalizeH="0" baseline="0" dirty="0">
                <a:ln>
                  <a:noFill/>
                </a:ln>
                <a:effectLst/>
                <a:latin typeface="Aptos"/>
              </a:rPr>
              <a:t> – Identified trends and suggested improvements. </a:t>
            </a:r>
          </a:p>
        </p:txBody>
      </p:sp>
    </p:spTree>
    <p:extLst>
      <p:ext uri="{BB962C8B-B14F-4D97-AF65-F5344CB8AC3E}">
        <p14:creationId xmlns:p14="http://schemas.microsoft.com/office/powerpoint/2010/main" val="1593810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4BF7-B842-49A6-AAE9-2124C314A787}"/>
              </a:ext>
            </a:extLst>
          </p:cNvPr>
          <p:cNvSpPr>
            <a:spLocks noGrp="1"/>
          </p:cNvSpPr>
          <p:nvPr>
            <p:ph type="title"/>
          </p:nvPr>
        </p:nvSpPr>
        <p:spPr/>
        <p:txBody>
          <a:bodyPr/>
          <a:lstStyle/>
          <a:p>
            <a:pPr algn="l"/>
            <a:r>
              <a:rPr lang="en-US" b="1" dirty="0">
                <a:latin typeface="Times New Roman" panose="02020603050405020304" pitchFamily="18" charset="0"/>
                <a:cs typeface="Times New Roman" panose="02020603050405020304" pitchFamily="18" charset="0"/>
              </a:rPr>
              <a:t>Recommendations</a:t>
            </a:r>
          </a:p>
        </p:txBody>
      </p:sp>
      <p:sp>
        <p:nvSpPr>
          <p:cNvPr id="4" name="Rectangle 1">
            <a:extLst>
              <a:ext uri="{FF2B5EF4-FFF2-40B4-BE49-F238E27FC236}">
                <a16:creationId xmlns:a16="http://schemas.microsoft.com/office/drawing/2014/main" id="{7AC66899-DAA4-47D4-9EE4-D1A0FDEAB825}"/>
              </a:ext>
            </a:extLst>
          </p:cNvPr>
          <p:cNvSpPr>
            <a:spLocks noGrp="1" noChangeArrowheads="1"/>
          </p:cNvSpPr>
          <p:nvPr>
            <p:ph idx="1"/>
          </p:nvPr>
        </p:nvSpPr>
        <p:spPr bwMode="auto">
          <a:xfrm>
            <a:off x="913795" y="1580050"/>
            <a:ext cx="858812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indent="-28575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Maintain optimal inventory levels to avoid stock shortages and overstocking. </a:t>
            </a:r>
          </a:p>
          <a:p>
            <a:pPr marL="285750" indent="-28575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Implement safety stock planning for high-demand products. </a:t>
            </a:r>
          </a:p>
          <a:p>
            <a:pPr marL="285750" indent="-28575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Monitor supplier performance regularly and reduce lead time delays. </a:t>
            </a:r>
          </a:p>
          <a:p>
            <a:pPr marL="285750" indent="-28575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Optimize transportation routes and shipping methods to lower logistics costs. </a:t>
            </a:r>
          </a:p>
          <a:p>
            <a:pPr marL="285750" indent="-28575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Focus on high-performing products to maximize revenue and profitability. </a:t>
            </a:r>
          </a:p>
          <a:p>
            <a:pPr marL="285750" indent="-285750" defTabSz="914400" eaLnBrk="0" fontAlgn="base" hangingPunct="0">
              <a:spcBef>
                <a:spcPct val="0"/>
              </a:spcBef>
              <a:spcAft>
                <a:spcPct val="0"/>
              </a:spcAft>
              <a:buClrTx/>
              <a:buSzTx/>
            </a:pPr>
            <a:r>
              <a:rPr kumimoji="0" lang="en-US" altLang="en-US" b="0" i="0" u="none" strike="noStrike" cap="none" normalizeH="0" baseline="0" dirty="0">
                <a:ln>
                  <a:noFill/>
                </a:ln>
                <a:effectLst/>
                <a:latin typeface="Aptos"/>
              </a:rPr>
              <a:t>Strengthen quality control processes to reduce defect rates. </a:t>
            </a:r>
          </a:p>
        </p:txBody>
      </p:sp>
    </p:spTree>
    <p:extLst>
      <p:ext uri="{BB962C8B-B14F-4D97-AF65-F5344CB8AC3E}">
        <p14:creationId xmlns:p14="http://schemas.microsoft.com/office/powerpoint/2010/main" val="408499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43836-9AF4-4622-9B46-D5AAE0C8B0F2}"/>
              </a:ext>
            </a:extLst>
          </p:cNvPr>
          <p:cNvSpPr>
            <a:spLocks noGrp="1"/>
          </p:cNvSpPr>
          <p:nvPr>
            <p:ph type="title"/>
          </p:nvPr>
        </p:nvSpPr>
        <p:spPr/>
        <p:txBody>
          <a:bodyPr>
            <a:normAutofit/>
          </a:bodyPr>
          <a:lstStyle/>
          <a:p>
            <a:pPr algn="l"/>
            <a:r>
              <a:rPr lang="en-US" b="1" dirty="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B6158DD-3EFB-4635-9D07-C0B01D66FD6C}"/>
              </a:ext>
            </a:extLst>
          </p:cNvPr>
          <p:cNvSpPr>
            <a:spLocks noGrp="1"/>
          </p:cNvSpPr>
          <p:nvPr>
            <p:ph idx="1"/>
          </p:nvPr>
        </p:nvSpPr>
        <p:spPr/>
        <p:txBody>
          <a:bodyPr/>
          <a:lstStyle/>
          <a:p>
            <a:pPr marL="36900" indent="0">
              <a:buNone/>
            </a:pPr>
            <a:r>
              <a:rPr lang="en-US" dirty="0">
                <a:latin typeface="Aptos"/>
              </a:rPr>
              <a:t>The Supply Chain Analysis Dashboard provides a comprehensive view of inventory, supplier performance, manufacturing efficiency, logistics operations, and product quality. By analyzing key performance indicators and business metrics, the dashboard helps identify operational bottlenecks, improve resource utilization, and support data-driven decision-making.</a:t>
            </a:r>
          </a:p>
        </p:txBody>
      </p:sp>
    </p:spTree>
    <p:extLst>
      <p:ext uri="{BB962C8B-B14F-4D97-AF65-F5344CB8AC3E}">
        <p14:creationId xmlns:p14="http://schemas.microsoft.com/office/powerpoint/2010/main" val="312918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D3462-D529-4E52-8666-B9D61B9593A2}"/>
              </a:ext>
            </a:extLst>
          </p:cNvPr>
          <p:cNvSpPr>
            <a:spLocks noGrp="1"/>
          </p:cNvSpPr>
          <p:nvPr>
            <p:ph type="title"/>
          </p:nvPr>
        </p:nvSpPr>
        <p:spPr>
          <a:xfrm>
            <a:off x="919119" y="2464941"/>
            <a:ext cx="10353762" cy="1928117"/>
          </a:xfrm>
        </p:spPr>
        <p:txBody>
          <a:bodyPr>
            <a:normAutofit/>
          </a:bodyPr>
          <a:lstStyle/>
          <a:p>
            <a:r>
              <a:rPr lang="en-US" sz="54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6518915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206</TotalTime>
  <Words>731</Words>
  <Application>Microsoft Office PowerPoint</Application>
  <PresentationFormat>Widescreen</PresentationFormat>
  <Paragraphs>55</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Calisto MT</vt:lpstr>
      <vt:lpstr>Times New Roman</vt:lpstr>
      <vt:lpstr>Wingdings 2</vt:lpstr>
      <vt:lpstr>Slate</vt:lpstr>
      <vt:lpstr>SUPPLY CHAIN ANALYSIS </vt:lpstr>
      <vt:lpstr>Introduction </vt:lpstr>
      <vt:lpstr>Project Overview</vt:lpstr>
      <vt:lpstr>Objectives</vt:lpstr>
      <vt:lpstr>Motivation for Choosing the Dataset</vt:lpstr>
      <vt:lpstr>Dashboard Overview</vt:lpstr>
      <vt:lpstr>Executive Overview</vt:lpstr>
      <vt:lpstr>Inventory &amp; Demand Analysis</vt:lpstr>
      <vt:lpstr>Supplier &amp; Manufacturing Performance</vt:lpstr>
      <vt:lpstr>Logistics &amp; Transportation Analysis</vt:lpstr>
      <vt:lpstr>Quality &amp; Product comparison</vt:lpstr>
      <vt:lpstr>Methodology </vt:lpstr>
      <vt:lpstr>Recommendations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Prajwal Patil</dc:creator>
  <cp:lastModifiedBy>Prajwal Patil</cp:lastModifiedBy>
  <cp:revision>18</cp:revision>
  <dcterms:created xsi:type="dcterms:W3CDTF">2026-06-20T16:14:50Z</dcterms:created>
  <dcterms:modified xsi:type="dcterms:W3CDTF">2026-06-22T17:55:42Z</dcterms:modified>
</cp:coreProperties>
</file>